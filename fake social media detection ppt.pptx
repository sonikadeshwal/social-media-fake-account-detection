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8229600"/>
  <p:notesSz cx="8229600" cy="146304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Inter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416" y="7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806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64199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Fake Social Media Account Detection Using Supervised Machine Learning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33947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Meeta, Sonika, Eshaan, ShaiqB.Tech CSE (AI &amp; ML), Lovely Professional University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10361057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Growing Challenge of Fake Accounts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06047"/>
            <a:ext cx="6342102" cy="131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 platforms face an escalating crisis with fake accounts that spread misinformation, scams, and cyber fraud whilst generating artificial engagement and manipulating public opinion.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1638" y="3211235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manual detection methods are fundamentally inadequate—slow, labour-intensive, and unable to scale against the overwhelming volume of fraudulent accounts created daily.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4386501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offers an automated, intelligent solution</a:t>
            </a: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distinguish fake accounts from genuine users with precision and efficiency.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81" y="1211342"/>
            <a:ext cx="6342102" cy="634210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969BEB8-EB3C-9259-FF36-3095BB0BBFC2}"/>
              </a:ext>
            </a:extLst>
          </p:cNvPr>
          <p:cNvGrpSpPr/>
          <p:nvPr/>
        </p:nvGrpSpPr>
        <p:grpSpPr>
          <a:xfrm>
            <a:off x="-409171" y="-4369832"/>
            <a:ext cx="15276714" cy="17037475"/>
            <a:chOff x="-421871" y="-4369832"/>
            <a:chExt cx="15276714" cy="1703747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5ABAE61-A4D0-0AFD-E18D-82AAB2441012}"/>
                </a:ext>
              </a:extLst>
            </p:cNvPr>
            <p:cNvSpPr/>
            <p:nvPr/>
          </p:nvSpPr>
          <p:spPr>
            <a:xfrm>
              <a:off x="-116378" y="7730836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BB7C09-F6C4-5EC7-C01B-8133861A761D}"/>
                </a:ext>
              </a:extLst>
            </p:cNvPr>
            <p:cNvSpPr/>
            <p:nvPr/>
          </p:nvSpPr>
          <p:spPr>
            <a:xfrm rot="16200000">
              <a:off x="6824749" y="4861993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885D373-FD42-A4A8-4B61-1E4251B4D295}"/>
                </a:ext>
              </a:extLst>
            </p:cNvPr>
            <p:cNvSpPr/>
            <p:nvPr/>
          </p:nvSpPr>
          <p:spPr>
            <a:xfrm rot="16200000">
              <a:off x="-7362998" y="2795739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8D7FFD-093D-D691-1941-6DFB6694C4E1}"/>
                </a:ext>
              </a:extLst>
            </p:cNvPr>
            <p:cNvSpPr/>
            <p:nvPr/>
          </p:nvSpPr>
          <p:spPr>
            <a:xfrm rot="10800000">
              <a:off x="-421871" y="-73104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738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09787"/>
            <a:ext cx="4196358" cy="3681055"/>
          </a:xfrm>
          <a:prstGeom prst="roundRect">
            <a:avLst>
              <a:gd name="adj" fmla="val 258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28224" y="234422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531269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251478"/>
            <a:ext cx="31953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Sophisticated Imitation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741896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Fake profiles increasingly mirror genuine user behaviour, rendering manual identification extraordinarily difficult.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109787"/>
            <a:ext cx="4196358" cy="3681055"/>
          </a:xfrm>
          <a:prstGeom prst="roundRect">
            <a:avLst>
              <a:gd name="adj" fmla="val 258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451396" y="234422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2531269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2514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Threats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3741896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Bots and fraudulent accounts proliferate across Instagram, Facebook, Twitter, and emerging platforms at unprecedented rates.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109787"/>
            <a:ext cx="4196358" cy="3681055"/>
          </a:xfrm>
          <a:prstGeom prst="roundRect">
            <a:avLst>
              <a:gd name="adj" fmla="val 258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9874568" y="234422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2531269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2514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Complex Detection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3741896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 identification demands comprehensive analysis of activity patterns, follower networks, engagement behaviour, and profile characteristics.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1133951" y="6301145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Project Aim: Build a robust ML model to accurately identify and flag fake accounts through sophisticated pattern recognition and behavioural analysis.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793790" y="6045994"/>
            <a:ext cx="30480" cy="1236107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C1759C2-6A2F-18BA-E6EC-61C7042328B7}"/>
              </a:ext>
            </a:extLst>
          </p:cNvPr>
          <p:cNvGrpSpPr/>
          <p:nvPr/>
        </p:nvGrpSpPr>
        <p:grpSpPr>
          <a:xfrm>
            <a:off x="-409171" y="-4369832"/>
            <a:ext cx="15276714" cy="17037475"/>
            <a:chOff x="-421871" y="-4369832"/>
            <a:chExt cx="15276714" cy="170374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0CE150F-8FD0-4726-3488-62189D1C7195}"/>
                </a:ext>
              </a:extLst>
            </p:cNvPr>
            <p:cNvSpPr/>
            <p:nvPr/>
          </p:nvSpPr>
          <p:spPr>
            <a:xfrm>
              <a:off x="-116378" y="7730836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3AD86B5-C381-8970-B1D5-33D98C7D95F6}"/>
                </a:ext>
              </a:extLst>
            </p:cNvPr>
            <p:cNvSpPr/>
            <p:nvPr/>
          </p:nvSpPr>
          <p:spPr>
            <a:xfrm rot="16200000">
              <a:off x="6824749" y="4861993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1EF7F5B-247B-0977-CED4-05739166564B}"/>
                </a:ext>
              </a:extLst>
            </p:cNvPr>
            <p:cNvSpPr/>
            <p:nvPr/>
          </p:nvSpPr>
          <p:spPr>
            <a:xfrm rot="16200000">
              <a:off x="-7362998" y="2795739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F5529C7-F3AD-8FA6-9573-44DA0E13D211}"/>
                </a:ext>
              </a:extLst>
            </p:cNvPr>
            <p:cNvSpPr/>
            <p:nvPr/>
          </p:nvSpPr>
          <p:spPr>
            <a:xfrm rot="10800000">
              <a:off x="-421871" y="-73104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1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40593"/>
            <a:ext cx="4196358" cy="30480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and structure account data, ensuring quality inputs for model training.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840593"/>
            <a:ext cx="4196358" cy="30480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16962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meaningful behavioural features that distinguish authentic from fraudulent accounts.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840593"/>
            <a:ext cx="4196358" cy="30480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40133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Training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Random Forest classifier using optimised parameters and ensemble techniques.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93790" y="5520214"/>
            <a:ext cx="33233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Evaluation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 model using accuracy, precision, recall, and F1-score metrics.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Analysis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key influential factors driving classification decisions for transparency.</a:t>
            </a:r>
            <a:endParaRPr lang="en-US" sz="175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635D5F6-42F4-F118-64DC-53720AFBDA74}"/>
              </a:ext>
            </a:extLst>
          </p:cNvPr>
          <p:cNvGrpSpPr/>
          <p:nvPr/>
        </p:nvGrpSpPr>
        <p:grpSpPr>
          <a:xfrm>
            <a:off x="-409171" y="-4369832"/>
            <a:ext cx="15276714" cy="17037475"/>
            <a:chOff x="-421871" y="-4369832"/>
            <a:chExt cx="15276714" cy="170374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8342BBF-989F-85A2-2659-40F23802B067}"/>
                </a:ext>
              </a:extLst>
            </p:cNvPr>
            <p:cNvSpPr/>
            <p:nvPr/>
          </p:nvSpPr>
          <p:spPr>
            <a:xfrm>
              <a:off x="-116378" y="7730836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8950E05-2FE7-4D75-64BE-8B8805D497F5}"/>
                </a:ext>
              </a:extLst>
            </p:cNvPr>
            <p:cNvSpPr/>
            <p:nvPr/>
          </p:nvSpPr>
          <p:spPr>
            <a:xfrm rot="16200000">
              <a:off x="6824749" y="4861993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618B05C-3406-F028-E0CA-3C727A42B708}"/>
                </a:ext>
              </a:extLst>
            </p:cNvPr>
            <p:cNvSpPr/>
            <p:nvPr/>
          </p:nvSpPr>
          <p:spPr>
            <a:xfrm rot="16200000">
              <a:off x="-7362998" y="2795739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4EC29F6-3A58-5190-5369-D9F8A6A64D6E}"/>
                </a:ext>
              </a:extLst>
            </p:cNvPr>
            <p:cNvSpPr/>
            <p:nvPr/>
          </p:nvSpPr>
          <p:spPr>
            <a:xfrm rot="10800000">
              <a:off x="-421871" y="-73104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462" y="508635"/>
            <a:ext cx="5220772" cy="578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&amp; Key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7462" y="1530548"/>
            <a:ext cx="7820739" cy="591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comprehensive dataset incorporates multiple indicators of profile authenticity, enabling nuanced behavioural analysis: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7462" y="2428756"/>
            <a:ext cx="92392" cy="92392"/>
          </a:xfrm>
          <a:prstGeom prst="roundRect">
            <a:avLst>
              <a:gd name="adj" fmla="val 494848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24758" y="2330529"/>
            <a:ext cx="2312313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Social Metrics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24758" y="2804398"/>
            <a:ext cx="7543443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 count, following count, and their ratio patterns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7462" y="3568541"/>
            <a:ext cx="92392" cy="92392"/>
          </a:xfrm>
          <a:prstGeom prst="roundRect">
            <a:avLst>
              <a:gd name="adj" fmla="val 494848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24758" y="3470315"/>
            <a:ext cx="2312313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Activity Indicators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24758" y="3944183"/>
            <a:ext cx="7543443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 of posts, posting frequency, and temporal patterns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7462" y="4708327"/>
            <a:ext cx="92392" cy="92392"/>
          </a:xfrm>
          <a:prstGeom prst="roundRect">
            <a:avLst>
              <a:gd name="adj" fmla="val 494848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24758" y="4610100"/>
            <a:ext cx="2521506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Profile Characteristics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24758" y="5083969"/>
            <a:ext cx="7543443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age, bio length, profile completeness, verified status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7462" y="5848112"/>
            <a:ext cx="92392" cy="92392"/>
          </a:xfrm>
          <a:prstGeom prst="roundRect">
            <a:avLst>
              <a:gd name="adj" fmla="val 494848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24758" y="5749885"/>
            <a:ext cx="2456140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Engagement Analysis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4758" y="6223754"/>
            <a:ext cx="7543443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Likes-to-followers ratio, comments engagement rate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7462" y="6727746"/>
            <a:ext cx="7820739" cy="785932"/>
          </a:xfrm>
          <a:prstGeom prst="roundRect">
            <a:avLst>
              <a:gd name="adj" fmla="val 9886"/>
            </a:avLst>
          </a:prstGeom>
          <a:solidFill>
            <a:srgbClr val="0A00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66" y="7010400"/>
            <a:ext cx="231219" cy="18490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48489" y="6958846"/>
            <a:ext cx="7034808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Classification:</a:t>
            </a: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Fake or Genuine Account</a:t>
            </a:r>
            <a:endParaRPr lang="en-US" sz="14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7068" y="1572101"/>
            <a:ext cx="5063371" cy="506337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FC4C1DE-663D-4B06-B70D-2700F0D11885}"/>
              </a:ext>
            </a:extLst>
          </p:cNvPr>
          <p:cNvGrpSpPr/>
          <p:nvPr/>
        </p:nvGrpSpPr>
        <p:grpSpPr>
          <a:xfrm>
            <a:off x="-409171" y="-4369832"/>
            <a:ext cx="15276714" cy="17037475"/>
            <a:chOff x="-421871" y="-4369832"/>
            <a:chExt cx="15276714" cy="170374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3F71DEA-8ED1-78DA-4E2E-CBE8C0993A8E}"/>
                </a:ext>
              </a:extLst>
            </p:cNvPr>
            <p:cNvSpPr/>
            <p:nvPr/>
          </p:nvSpPr>
          <p:spPr>
            <a:xfrm>
              <a:off x="-116378" y="7730836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E92D6E1-D131-8758-DB42-3365BAA1831F}"/>
                </a:ext>
              </a:extLst>
            </p:cNvPr>
            <p:cNvSpPr/>
            <p:nvPr/>
          </p:nvSpPr>
          <p:spPr>
            <a:xfrm rot="16200000">
              <a:off x="6824749" y="4861993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083DFC2-AF34-10CB-5D74-27713A0C8163}"/>
                </a:ext>
              </a:extLst>
            </p:cNvPr>
            <p:cNvSpPr/>
            <p:nvPr/>
          </p:nvSpPr>
          <p:spPr>
            <a:xfrm rot="16200000">
              <a:off x="-7362998" y="2795739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D9F657-40EB-590A-2B2B-CE7C7A5BC9C9}"/>
                </a:ext>
              </a:extLst>
            </p:cNvPr>
            <p:cNvSpPr/>
            <p:nvPr/>
          </p:nvSpPr>
          <p:spPr>
            <a:xfrm rot="10800000">
              <a:off x="-421871" y="-73104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891" y="513755"/>
            <a:ext cx="7217212" cy="583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Random Forest Algorithm?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53891" y="1751290"/>
            <a:ext cx="6567845" cy="1678424"/>
          </a:xfrm>
          <a:prstGeom prst="roundRect">
            <a:avLst>
              <a:gd name="adj" fmla="val 6538"/>
            </a:avLst>
          </a:prstGeom>
          <a:solidFill>
            <a:srgbClr val="2725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53891" y="1728430"/>
            <a:ext cx="6567845" cy="91440"/>
          </a:xfrm>
          <a:prstGeom prst="roundRect">
            <a:avLst>
              <a:gd name="adj" fmla="val 85821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540" y="1471136"/>
            <a:ext cx="560427" cy="560427"/>
          </a:xfrm>
          <a:prstGeom prst="roundRect">
            <a:avLst>
              <a:gd name="adj" fmla="val 163161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25657" y="1611273"/>
            <a:ext cx="224195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63560" y="2218373"/>
            <a:ext cx="2344222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Robust Performance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3560" y="2622352"/>
            <a:ext cx="6148507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Performs exceptionally well with noisy and imbalanced datasets typical of social media data.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08545" y="1751290"/>
            <a:ext cx="6567964" cy="1678424"/>
          </a:xfrm>
          <a:prstGeom prst="roundRect">
            <a:avLst>
              <a:gd name="adj" fmla="val 6538"/>
            </a:avLst>
          </a:prstGeom>
          <a:solidFill>
            <a:srgbClr val="2725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408545" y="1728430"/>
            <a:ext cx="6567964" cy="91440"/>
          </a:xfrm>
          <a:prstGeom prst="roundRect">
            <a:avLst>
              <a:gd name="adj" fmla="val 85821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412313" y="1471136"/>
            <a:ext cx="560427" cy="560427"/>
          </a:xfrm>
          <a:prstGeom prst="roundRect">
            <a:avLst>
              <a:gd name="adj" fmla="val 163161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580430" y="1611273"/>
            <a:ext cx="224195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18214" y="2218373"/>
            <a:ext cx="2475548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 Generalisation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18214" y="2622352"/>
            <a:ext cx="6148626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high accuracy whilst maintaining excellent generalisation ability across diverse account types.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3891" y="3896678"/>
            <a:ext cx="6567845" cy="1678424"/>
          </a:xfrm>
          <a:prstGeom prst="roundRect">
            <a:avLst>
              <a:gd name="adj" fmla="val 6538"/>
            </a:avLst>
          </a:prstGeom>
          <a:solidFill>
            <a:srgbClr val="2725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53891" y="3873818"/>
            <a:ext cx="6567845" cy="91440"/>
          </a:xfrm>
          <a:prstGeom prst="roundRect">
            <a:avLst>
              <a:gd name="adj" fmla="val 85821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540" y="3616523"/>
            <a:ext cx="560427" cy="560427"/>
          </a:xfrm>
          <a:prstGeom prst="roundRect">
            <a:avLst>
              <a:gd name="adj" fmla="val 163161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825657" y="3756660"/>
            <a:ext cx="224195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63560" y="4363760"/>
            <a:ext cx="2550914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Overfitting Resistance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3560" y="4767739"/>
            <a:ext cx="6148507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structure inherently resists overfitting, ensuring reliable real-world performance.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408545" y="3896678"/>
            <a:ext cx="6567964" cy="1678424"/>
          </a:xfrm>
          <a:prstGeom prst="roundRect">
            <a:avLst>
              <a:gd name="adj" fmla="val 6538"/>
            </a:avLst>
          </a:prstGeom>
          <a:solidFill>
            <a:srgbClr val="2725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408545" y="3873818"/>
            <a:ext cx="6567964" cy="91440"/>
          </a:xfrm>
          <a:prstGeom prst="roundRect">
            <a:avLst>
              <a:gd name="adj" fmla="val 85821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0412313" y="3616523"/>
            <a:ext cx="560427" cy="560427"/>
          </a:xfrm>
          <a:prstGeom prst="roundRect">
            <a:avLst>
              <a:gd name="adj" fmla="val 163161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580430" y="3756660"/>
            <a:ext cx="224195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618214" y="4363760"/>
            <a:ext cx="2335530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Flexibility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18214" y="4767739"/>
            <a:ext cx="6148626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Seamlessly handles both numerical and categorical features without extensive preprocessing.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53891" y="6042065"/>
            <a:ext cx="6567845" cy="1678424"/>
          </a:xfrm>
          <a:prstGeom prst="roundRect">
            <a:avLst>
              <a:gd name="adj" fmla="val 6538"/>
            </a:avLst>
          </a:prstGeom>
          <a:solidFill>
            <a:srgbClr val="2725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53891" y="6019205"/>
            <a:ext cx="6567845" cy="91440"/>
          </a:xfrm>
          <a:prstGeom prst="roundRect">
            <a:avLst>
              <a:gd name="adj" fmla="val 85821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540" y="5761911"/>
            <a:ext cx="560427" cy="560427"/>
          </a:xfrm>
          <a:prstGeom prst="roundRect">
            <a:avLst>
              <a:gd name="adj" fmla="val 163161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825657" y="5902047"/>
            <a:ext cx="224195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863560" y="6509147"/>
            <a:ext cx="2335530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Interpretability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63560" y="6913126"/>
            <a:ext cx="6148507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feature importance insights, revealing which factors most influence detection decisions.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7408545" y="6042065"/>
            <a:ext cx="6567964" cy="1678424"/>
          </a:xfrm>
          <a:prstGeom prst="roundRect">
            <a:avLst>
              <a:gd name="adj" fmla="val 6538"/>
            </a:avLst>
          </a:prstGeom>
          <a:solidFill>
            <a:srgbClr val="2725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408545" y="6019205"/>
            <a:ext cx="6567964" cy="91440"/>
          </a:xfrm>
          <a:prstGeom prst="roundRect">
            <a:avLst>
              <a:gd name="adj" fmla="val 85821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0412313" y="5761911"/>
            <a:ext cx="560427" cy="560427"/>
          </a:xfrm>
          <a:prstGeom prst="roundRect">
            <a:avLst>
              <a:gd name="adj" fmla="val 163161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0580430" y="5902047"/>
            <a:ext cx="224195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7618214" y="6509147"/>
            <a:ext cx="2335530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Scalability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618214" y="6913126"/>
            <a:ext cx="6148626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and scalable for large datasets, suitable for platform-wide deployment.</a:t>
            </a:r>
            <a:endParaRPr lang="en-US" sz="145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EE81389-C9F9-2568-1BC9-E1C0E6CA9D4E}"/>
              </a:ext>
            </a:extLst>
          </p:cNvPr>
          <p:cNvGrpSpPr/>
          <p:nvPr/>
        </p:nvGrpSpPr>
        <p:grpSpPr>
          <a:xfrm>
            <a:off x="-409171" y="-4369832"/>
            <a:ext cx="15276714" cy="17037475"/>
            <a:chOff x="-421871" y="-4369832"/>
            <a:chExt cx="15276714" cy="1703747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6842927-B5C5-BF52-E3B1-9A395EA629FA}"/>
                </a:ext>
              </a:extLst>
            </p:cNvPr>
            <p:cNvSpPr/>
            <p:nvPr/>
          </p:nvSpPr>
          <p:spPr>
            <a:xfrm>
              <a:off x="-116378" y="7730836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A8C5301-6FAC-E267-DDC6-40EC5227DE7A}"/>
                </a:ext>
              </a:extLst>
            </p:cNvPr>
            <p:cNvSpPr/>
            <p:nvPr/>
          </p:nvSpPr>
          <p:spPr>
            <a:xfrm rot="16200000">
              <a:off x="6824749" y="4861993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7D8CA2C-395F-5C9F-28DB-846BD70C8885}"/>
                </a:ext>
              </a:extLst>
            </p:cNvPr>
            <p:cNvSpPr/>
            <p:nvPr/>
          </p:nvSpPr>
          <p:spPr>
            <a:xfrm rot="16200000">
              <a:off x="-7362998" y="2795739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603A360-1F0A-AD1C-BA6C-1A56C4F93253}"/>
                </a:ext>
              </a:extLst>
            </p:cNvPr>
            <p:cNvSpPr/>
            <p:nvPr/>
          </p:nvSpPr>
          <p:spPr>
            <a:xfrm rot="10800000">
              <a:off x="-421871" y="-73104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4607" y="522208"/>
            <a:ext cx="5369243" cy="593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Methodology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07" y="1495187"/>
            <a:ext cx="949404" cy="11393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03797" y="1684973"/>
            <a:ext cx="3389352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Collection &amp; Preparation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803797" y="2095500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dataset assembly and initial structuring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07" y="2634496"/>
            <a:ext cx="949404" cy="11393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03797" y="2824282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Cleaning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803797" y="3234809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missing values, outliers, and inconsistencies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07" y="3773805"/>
            <a:ext cx="949404" cy="11393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03797" y="3963591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Train/Test Split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803797" y="4374118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training data, 20% testing data for unbiased evaluation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607" y="4913114"/>
            <a:ext cx="949404" cy="11393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03797" y="5102900"/>
            <a:ext cx="2744272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Random Forest Training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803797" y="5513427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training with optimised hyperparameters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607" y="6052423"/>
            <a:ext cx="949404" cy="113930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03797" y="6242209"/>
            <a:ext cx="2490311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 &amp; Analysis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803797" y="6652736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metrics, feature importance, and hyperparameter tuning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664607" y="7405330"/>
            <a:ext cx="1330118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&amp; Technologies:</a:t>
            </a: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Python, Pandas, NumPy, Scikit-Learn, Matplotlib</a:t>
            </a:r>
            <a:endParaRPr lang="en-US" sz="14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062AC8-FA5F-7EC0-1CD9-7AD8DE447140}"/>
              </a:ext>
            </a:extLst>
          </p:cNvPr>
          <p:cNvGrpSpPr/>
          <p:nvPr/>
        </p:nvGrpSpPr>
        <p:grpSpPr>
          <a:xfrm>
            <a:off x="-409171" y="-4369832"/>
            <a:ext cx="15276714" cy="17037475"/>
            <a:chOff x="-421871" y="-4369832"/>
            <a:chExt cx="15276714" cy="1703747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6F0BAC-4F15-EF5C-997D-E70387AEDF37}"/>
                </a:ext>
              </a:extLst>
            </p:cNvPr>
            <p:cNvSpPr/>
            <p:nvPr/>
          </p:nvSpPr>
          <p:spPr>
            <a:xfrm>
              <a:off x="-116378" y="7730836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A1AB80D-835C-335A-B558-094D9D08B5BB}"/>
                </a:ext>
              </a:extLst>
            </p:cNvPr>
            <p:cNvSpPr/>
            <p:nvPr/>
          </p:nvSpPr>
          <p:spPr>
            <a:xfrm rot="16200000">
              <a:off x="6824749" y="4861993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5D7B8D1-D5B4-5BA0-CF8E-2497899076C0}"/>
                </a:ext>
              </a:extLst>
            </p:cNvPr>
            <p:cNvSpPr/>
            <p:nvPr/>
          </p:nvSpPr>
          <p:spPr>
            <a:xfrm rot="16200000">
              <a:off x="-7362998" y="2795739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CDCA939-AC7F-3F54-E3AC-848D1ED7F8B4}"/>
                </a:ext>
              </a:extLst>
            </p:cNvPr>
            <p:cNvSpPr/>
            <p:nvPr/>
          </p:nvSpPr>
          <p:spPr>
            <a:xfrm rot="10800000">
              <a:off x="-421871" y="-73104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6859" y="463272"/>
            <a:ext cx="4578668" cy="52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Implementation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86859" y="1406366"/>
            <a:ext cx="251507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Architecture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86859" y="1888331"/>
            <a:ext cx="5830491" cy="536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implementation utilises Scikit-Learn's Random Forest classifier with 200 decision trees, ensuring robust ensemble predictions.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86859" y="2575441"/>
            <a:ext cx="5830491" cy="80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processes structured features extracted from social media accounts, applying an 80-20 train-test split to ensure unbiased performance evaluation.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6859" y="3530679"/>
            <a:ext cx="5830491" cy="536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reports and confusion matrices provide comprehensive insights into model accuracy and error patterns.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34068" y="1427321"/>
            <a:ext cx="7216973" cy="6150293"/>
          </a:xfrm>
          <a:prstGeom prst="roundRect">
            <a:avLst>
              <a:gd name="adj" fmla="val 1145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25734" y="1427321"/>
            <a:ext cx="7233642" cy="6150293"/>
          </a:xfrm>
          <a:prstGeom prst="roundRect">
            <a:avLst>
              <a:gd name="adj" fmla="val 409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993374" y="1553051"/>
            <a:ext cx="6898362" cy="5898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train_test_splitfrom sklearn.ensemble import RandomForestClassifierfrom sklearn.metrics import classification_reportfrom sklearn.metrics import confusion_matriximport pandas as pddf = pd.read_csv("fake_social_media.csv")X = df.drop("fake", axis=1)y = df["fake"]X_train, X_test, y_train, y_test =  train_test_split(X, y, test_size=0.2,  random_state=42)model = RandomForestClassifier( n_estimators=200, random_state=42)model.fit(X_train, y_train)y_pred = model.predict(X_test)print(classification_report(y_test, y_pred))print(confusion_matrix(y_test, y_pred))</a:t>
            </a:r>
            <a:endParaRPr lang="en-US" sz="13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7D012E-E3D5-8219-F6E3-DFB167F6BFCD}"/>
              </a:ext>
            </a:extLst>
          </p:cNvPr>
          <p:cNvGrpSpPr/>
          <p:nvPr/>
        </p:nvGrpSpPr>
        <p:grpSpPr>
          <a:xfrm>
            <a:off x="-409171" y="-4369832"/>
            <a:ext cx="15276714" cy="17037475"/>
            <a:chOff x="-421871" y="-4369832"/>
            <a:chExt cx="15276714" cy="1703747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59AB60-9CD7-0381-1B7F-6A2493E85E2D}"/>
                </a:ext>
              </a:extLst>
            </p:cNvPr>
            <p:cNvSpPr/>
            <p:nvPr/>
          </p:nvSpPr>
          <p:spPr>
            <a:xfrm>
              <a:off x="-116378" y="7730836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70E31D8-6075-7208-50ED-205D68827284}"/>
                </a:ext>
              </a:extLst>
            </p:cNvPr>
            <p:cNvSpPr/>
            <p:nvPr/>
          </p:nvSpPr>
          <p:spPr>
            <a:xfrm rot="16200000">
              <a:off x="6824749" y="4861993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A9CE5C-C98B-2F0F-18AF-549D3DE4A3E5}"/>
                </a:ext>
              </a:extLst>
            </p:cNvPr>
            <p:cNvSpPr/>
            <p:nvPr/>
          </p:nvSpPr>
          <p:spPr>
            <a:xfrm rot="16200000">
              <a:off x="-7362998" y="2795739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41A54D7-C43B-435A-21CB-B147A8C6245C}"/>
                </a:ext>
              </a:extLst>
            </p:cNvPr>
            <p:cNvSpPr/>
            <p:nvPr/>
          </p:nvSpPr>
          <p:spPr>
            <a:xfrm rot="10800000">
              <a:off x="-421871" y="-73104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6127" y="864751"/>
            <a:ext cx="6710839" cy="597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Importance Analysis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156127" y="1940957"/>
            <a:ext cx="3668911" cy="717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Understanding Model Decisions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6156127" y="2849761"/>
            <a:ext cx="3668911" cy="153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importance analysis reveals which account characteristics most strongly influence detection accuracy, providing transparency and actionable insights.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156127" y="4552474"/>
            <a:ext cx="3668911" cy="153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visualisation enables security teams to understand the model's decision-making process and identify the most critical indicators of fraudulent behaviour.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0299383" y="1964888"/>
            <a:ext cx="3668911" cy="5184696"/>
          </a:xfrm>
          <a:prstGeom prst="roundRect">
            <a:avLst>
              <a:gd name="adj" fmla="val 2191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10289858" y="1964888"/>
            <a:ext cx="3687961" cy="5184696"/>
          </a:xfrm>
          <a:prstGeom prst="roundRect">
            <a:avLst>
              <a:gd name="adj" fmla="val 778"/>
            </a:avLst>
          </a:prstGeom>
          <a:solidFill>
            <a:srgbClr val="3432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0481191" y="2108359"/>
            <a:ext cx="3305294" cy="4897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pltimport numpy as npimportances = model.feature_importances_indices = np.argsort(importances)plt.figure(figsize=(10,6))plt.barh(range(len(indices)),  importances[indices])plt.yticks(range(len(indices)),  X.columns[indices])plt.xlabel("Feature Importance")plt.title("Random Forest Feature Importance")plt.show()</a:t>
            </a:r>
            <a:endParaRPr lang="en-US" sz="15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6D7568E-C934-CE6C-5EB1-066BD31EB74E}"/>
              </a:ext>
            </a:extLst>
          </p:cNvPr>
          <p:cNvGrpSpPr/>
          <p:nvPr/>
        </p:nvGrpSpPr>
        <p:grpSpPr>
          <a:xfrm>
            <a:off x="-409171" y="-4369832"/>
            <a:ext cx="15276714" cy="17037475"/>
            <a:chOff x="-421871" y="-4369832"/>
            <a:chExt cx="15276714" cy="1703747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92C2A6-DE67-5C01-8C7E-F9A8C678818F}"/>
                </a:ext>
              </a:extLst>
            </p:cNvPr>
            <p:cNvSpPr/>
            <p:nvPr/>
          </p:nvSpPr>
          <p:spPr>
            <a:xfrm>
              <a:off x="-116378" y="7730836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80FC64E-6611-2A12-5277-10683101B1EB}"/>
                </a:ext>
              </a:extLst>
            </p:cNvPr>
            <p:cNvSpPr/>
            <p:nvPr/>
          </p:nvSpPr>
          <p:spPr>
            <a:xfrm rot="16200000">
              <a:off x="6824749" y="4861993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B7EADFD-5410-4B83-D23B-65034BF00AD3}"/>
                </a:ext>
              </a:extLst>
            </p:cNvPr>
            <p:cNvSpPr/>
            <p:nvPr/>
          </p:nvSpPr>
          <p:spPr>
            <a:xfrm rot="16200000">
              <a:off x="-7362998" y="2795739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87BBCD0-2011-1BC4-C80D-198909387111}"/>
                </a:ext>
              </a:extLst>
            </p:cNvPr>
            <p:cNvSpPr/>
            <p:nvPr/>
          </p:nvSpPr>
          <p:spPr>
            <a:xfrm rot="10800000">
              <a:off x="-421871" y="-73104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8945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423" y="2441853"/>
            <a:ext cx="4192310" cy="473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&amp; Key Findings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30423" y="3218378"/>
            <a:ext cx="4396859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91%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1781532" y="3907750"/>
            <a:ext cx="1894523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Accuracy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30423" y="4235291"/>
            <a:ext cx="4396859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Achieved exceptional classification performance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116711" y="3218378"/>
            <a:ext cx="4396859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6367820" y="3907750"/>
            <a:ext cx="1894523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Precision &amp; Recall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116711" y="4235291"/>
            <a:ext cx="4396859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detection across both account types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702998" y="3218378"/>
            <a:ext cx="4396978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</a:t>
            </a:r>
            <a:endParaRPr lang="en-US" sz="3900" dirty="0"/>
          </a:p>
        </p:txBody>
      </p:sp>
      <p:sp>
        <p:nvSpPr>
          <p:cNvPr id="11" name="Text 8"/>
          <p:cNvSpPr/>
          <p:nvPr/>
        </p:nvSpPr>
        <p:spPr>
          <a:xfrm>
            <a:off x="10954226" y="3907750"/>
            <a:ext cx="1894523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False Positives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702998" y="4235291"/>
            <a:ext cx="4396978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misclassification rates observed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30423" y="4704993"/>
            <a:ext cx="5177433" cy="378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Most Influential Detection Features</a:t>
            </a:r>
            <a:endParaRPr lang="en-US" sz="2350" dirty="0"/>
          </a:p>
        </p:txBody>
      </p:sp>
      <p:sp>
        <p:nvSpPr>
          <p:cNvPr id="14" name="Shape 11"/>
          <p:cNvSpPr/>
          <p:nvPr/>
        </p:nvSpPr>
        <p:spPr>
          <a:xfrm>
            <a:off x="530423" y="5311140"/>
            <a:ext cx="6709053" cy="903327"/>
          </a:xfrm>
          <a:prstGeom prst="roundRect">
            <a:avLst>
              <a:gd name="adj" fmla="val 7047"/>
            </a:avLst>
          </a:prstGeom>
          <a:solidFill>
            <a:srgbClr val="272525"/>
          </a:solidFill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97111" y="5477828"/>
            <a:ext cx="1894523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Engagement Rate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97111" y="5805368"/>
            <a:ext cx="6375678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Strongest predictor of account authenticity through likes and comments analysis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390924" y="5311140"/>
            <a:ext cx="6709053" cy="903327"/>
          </a:xfrm>
          <a:prstGeom prst="roundRect">
            <a:avLst>
              <a:gd name="adj" fmla="val 7047"/>
            </a:avLst>
          </a:prstGeom>
          <a:solidFill>
            <a:srgbClr val="272525"/>
          </a:solidFill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557611" y="5477828"/>
            <a:ext cx="1894523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Follower Ratio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7557611" y="5805368"/>
            <a:ext cx="6375678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Follower-to-following ratio reveals suspicious patterns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30423" y="6365915"/>
            <a:ext cx="6709053" cy="903327"/>
          </a:xfrm>
          <a:prstGeom prst="roundRect">
            <a:avLst>
              <a:gd name="adj" fmla="val 7047"/>
            </a:avLst>
          </a:prstGeom>
          <a:solidFill>
            <a:srgbClr val="272525"/>
          </a:solidFill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97111" y="6532602"/>
            <a:ext cx="1894523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Posting Frequency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97111" y="6860143"/>
            <a:ext cx="6375678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posting patterns distinguish bots from humans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390924" y="6365915"/>
            <a:ext cx="6709053" cy="903327"/>
          </a:xfrm>
          <a:prstGeom prst="roundRect">
            <a:avLst>
              <a:gd name="adj" fmla="val 7047"/>
            </a:avLst>
          </a:prstGeom>
          <a:solidFill>
            <a:srgbClr val="272525"/>
          </a:solidFill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7557611" y="6532602"/>
            <a:ext cx="1984891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Profile Completeness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557611" y="6860143"/>
            <a:ext cx="6375678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 length and profile details indicate genuine investment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30423" y="7439739"/>
            <a:ext cx="13569553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confusion matrix demonstrates strong predictive capability with minimal misclassification across both genuine and fraudulent account categories.</a:t>
            </a:r>
            <a:endParaRPr lang="en-US" sz="115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DA26DEA-5C2E-3097-9216-5EC3F2C79F51}"/>
              </a:ext>
            </a:extLst>
          </p:cNvPr>
          <p:cNvGrpSpPr/>
          <p:nvPr/>
        </p:nvGrpSpPr>
        <p:grpSpPr>
          <a:xfrm>
            <a:off x="-409171" y="-4369832"/>
            <a:ext cx="15276714" cy="17037475"/>
            <a:chOff x="-421871" y="-4369832"/>
            <a:chExt cx="15276714" cy="1703747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AB557CF-47DB-9866-58A7-E809991541C4}"/>
                </a:ext>
              </a:extLst>
            </p:cNvPr>
            <p:cNvSpPr/>
            <p:nvPr/>
          </p:nvSpPr>
          <p:spPr>
            <a:xfrm>
              <a:off x="-116378" y="7730836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26AAFD9-BE31-F936-A076-C52FD1038477}"/>
                </a:ext>
              </a:extLst>
            </p:cNvPr>
            <p:cNvSpPr/>
            <p:nvPr/>
          </p:nvSpPr>
          <p:spPr>
            <a:xfrm rot="16200000">
              <a:off x="6824749" y="4861993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5C23A71-D581-A75C-D828-E9569344B4C3}"/>
                </a:ext>
              </a:extLst>
            </p:cNvPr>
            <p:cNvSpPr/>
            <p:nvPr/>
          </p:nvSpPr>
          <p:spPr>
            <a:xfrm rot="16200000">
              <a:off x="-7362998" y="2795739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1C9A2CD-2CC5-01B3-8E5A-8EF1AF7A12C1}"/>
                </a:ext>
              </a:extLst>
            </p:cNvPr>
            <p:cNvSpPr/>
            <p:nvPr/>
          </p:nvSpPr>
          <p:spPr>
            <a:xfrm rot="10800000">
              <a:off x="-421871" y="-73104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6098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793790" y="4826437"/>
            <a:ext cx="130428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Performance dependent on dataset size &amp; quality• Fake accounts constantly evolve patterns• Possible false-positive classifications• Requires ongoing retraining for accuracy• High computational power required for large-scale data• Privacy restrictions limit accessible information</a:t>
            </a:r>
            <a:endParaRPr lang="en-US" sz="175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94F73F2-3D1B-D8DD-8273-72AC2A7BB93C}"/>
              </a:ext>
            </a:extLst>
          </p:cNvPr>
          <p:cNvGrpSpPr/>
          <p:nvPr/>
        </p:nvGrpSpPr>
        <p:grpSpPr>
          <a:xfrm>
            <a:off x="-409171" y="-4369832"/>
            <a:ext cx="15276714" cy="17037475"/>
            <a:chOff x="-421871" y="-4369832"/>
            <a:chExt cx="15276714" cy="1703747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84E0F84-0B3A-C927-B081-8E3A5532B3A8}"/>
                </a:ext>
              </a:extLst>
            </p:cNvPr>
            <p:cNvSpPr/>
            <p:nvPr/>
          </p:nvSpPr>
          <p:spPr>
            <a:xfrm>
              <a:off x="-116378" y="7730836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B36219-BCE8-054B-3B51-9B612D95028E}"/>
                </a:ext>
              </a:extLst>
            </p:cNvPr>
            <p:cNvSpPr/>
            <p:nvPr/>
          </p:nvSpPr>
          <p:spPr>
            <a:xfrm rot="16200000">
              <a:off x="6824749" y="4861993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A4629B-5420-E7B2-95C1-E43402F75DF7}"/>
                </a:ext>
              </a:extLst>
            </p:cNvPr>
            <p:cNvSpPr/>
            <p:nvPr/>
          </p:nvSpPr>
          <p:spPr>
            <a:xfrm rot="16200000">
              <a:off x="-7362998" y="2795739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0F19CC6-8383-85F7-AD18-DC82C59151AA}"/>
                </a:ext>
              </a:extLst>
            </p:cNvPr>
            <p:cNvSpPr/>
            <p:nvPr/>
          </p:nvSpPr>
          <p:spPr>
            <a:xfrm rot="10800000">
              <a:off x="-421871" y="-73104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42435"/>
            <a:ext cx="435899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INN / Innovative Approach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793790" y="5007888"/>
            <a:ext cx="130428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Ensemble ML approach for advanced pattern recognition• Multi-factor behaviour analysis instead of simple profile checks• Feature importance insights for transparency &amp; security• Scalable for real-time deployment across platforms• Supports integration with Deep Learning for future enhancement</a:t>
            </a:r>
            <a:endParaRPr lang="en-US" sz="175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48D4BF-87C4-8340-7DCC-6839EF404FD0}"/>
              </a:ext>
            </a:extLst>
          </p:cNvPr>
          <p:cNvGrpSpPr/>
          <p:nvPr/>
        </p:nvGrpSpPr>
        <p:grpSpPr>
          <a:xfrm>
            <a:off x="-409171" y="-4369832"/>
            <a:ext cx="15276714" cy="17037475"/>
            <a:chOff x="-421871" y="-4369832"/>
            <a:chExt cx="15276714" cy="1703747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95D0FD0-8F82-7D76-4EFE-B8EBDCE5E42E}"/>
                </a:ext>
              </a:extLst>
            </p:cNvPr>
            <p:cNvSpPr/>
            <p:nvPr/>
          </p:nvSpPr>
          <p:spPr>
            <a:xfrm>
              <a:off x="-116378" y="7730836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5807C4D-2D5F-61FD-21D7-C08D2A6A2CB1}"/>
                </a:ext>
              </a:extLst>
            </p:cNvPr>
            <p:cNvSpPr/>
            <p:nvPr/>
          </p:nvSpPr>
          <p:spPr>
            <a:xfrm rot="16200000">
              <a:off x="6824749" y="4861993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FDB03F6-3B8E-64A6-D1AD-FD3177140221}"/>
                </a:ext>
              </a:extLst>
            </p:cNvPr>
            <p:cNvSpPr/>
            <p:nvPr/>
          </p:nvSpPr>
          <p:spPr>
            <a:xfrm rot="16200000">
              <a:off x="-7362998" y="2795739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CE3D78F-49A6-59FD-083F-49A4ABE7442D}"/>
                </a:ext>
              </a:extLst>
            </p:cNvPr>
            <p:cNvSpPr/>
            <p:nvPr/>
          </p:nvSpPr>
          <p:spPr>
            <a:xfrm rot="10800000">
              <a:off x="-421871" y="-73104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91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9608" y="3218259"/>
            <a:ext cx="13291185" cy="4184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Learning is an effective solution for detecting fake social media accounts and reducing cyber risks.Random Forest achieved strong accuracy and improved platform authenticity.Future development includes real-time monitoring, deep learning implementation, and cross-network deployment.</a:t>
            </a:r>
            <a:endParaRPr lang="en-US" sz="375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CF0C550-1AC2-3109-E051-2A1E09533555}"/>
              </a:ext>
            </a:extLst>
          </p:cNvPr>
          <p:cNvGrpSpPr/>
          <p:nvPr/>
        </p:nvGrpSpPr>
        <p:grpSpPr>
          <a:xfrm>
            <a:off x="-323157" y="-4369832"/>
            <a:ext cx="15276714" cy="17037475"/>
            <a:chOff x="-421871" y="-4369832"/>
            <a:chExt cx="15276714" cy="1703747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F7FF046-ADF9-CC84-0D78-2DD44AF8E22D}"/>
                </a:ext>
              </a:extLst>
            </p:cNvPr>
            <p:cNvSpPr/>
            <p:nvPr/>
          </p:nvSpPr>
          <p:spPr>
            <a:xfrm>
              <a:off x="-116378" y="7730836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930277D-76F4-F09C-C1B2-DC5AAEE58EEF}"/>
                </a:ext>
              </a:extLst>
            </p:cNvPr>
            <p:cNvSpPr/>
            <p:nvPr/>
          </p:nvSpPr>
          <p:spPr>
            <a:xfrm rot="16200000">
              <a:off x="6824749" y="4861993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C8C1D6-CC36-5A12-E02A-8E2775073954}"/>
                </a:ext>
              </a:extLst>
            </p:cNvPr>
            <p:cNvSpPr/>
            <p:nvPr/>
          </p:nvSpPr>
          <p:spPr>
            <a:xfrm rot="16200000">
              <a:off x="-7362998" y="2795739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9B5C07-60F7-B343-12C7-4D6E632400BF}"/>
                </a:ext>
              </a:extLst>
            </p:cNvPr>
            <p:cNvSpPr/>
            <p:nvPr/>
          </p:nvSpPr>
          <p:spPr>
            <a:xfrm rot="10800000">
              <a:off x="-421871" y="-73104"/>
              <a:ext cx="14971221" cy="64008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1092</Words>
  <Application>Microsoft Office PowerPoint</Application>
  <PresentationFormat>Custom</PresentationFormat>
  <Paragraphs>121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Consolas</vt:lpstr>
      <vt:lpstr>Arial</vt:lpstr>
      <vt:lpstr>Inter Bold</vt:lpstr>
      <vt:lpstr>Inter Light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Shaiq Ahmed</dc:creator>
  <cp:lastModifiedBy>Shaiq OP</cp:lastModifiedBy>
  <cp:revision>2</cp:revision>
  <dcterms:created xsi:type="dcterms:W3CDTF">2025-12-02T05:39:25Z</dcterms:created>
  <dcterms:modified xsi:type="dcterms:W3CDTF">2025-12-02T06:14:39Z</dcterms:modified>
</cp:coreProperties>
</file>